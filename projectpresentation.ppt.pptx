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9" d="100"/>
          <a:sy n="79" d="100"/>
        </p:scale>
        <p:origin x="806"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603519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err="1"/>
                        <a:t>Kodakandla</a:t>
                      </a:r>
                      <a:r>
                        <a:rPr lang="en-US" sz="2000" dirty="0"/>
                        <a:t> Anushka </a:t>
                      </a:r>
                      <a:r>
                        <a:rPr lang="en-US" sz="2000" dirty="0" err="1"/>
                        <a:t>reddy</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anushkareddykodakandla@gmail.com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8333052057</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[Travel/Tourism]</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[AI-powered Travel Agent system</a:t>
            </a:r>
            <a:r>
              <a:rPr lang="en-US" sz="2400" dirty="0">
                <a:highlight>
                  <a:srgbClr val="FFFF00"/>
                </a:highlight>
              </a:rPr>
              <a:t> </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8AB49985-0FC9-E32A-6C8F-02F8C1FFCFB6}"/>
              </a:ext>
            </a:extLst>
          </p:cNvPr>
          <p:cNvPicPr>
            <a:picLocks noChangeAspect="1"/>
          </p:cNvPicPr>
          <p:nvPr/>
        </p:nvPicPr>
        <p:blipFill>
          <a:blip r:embed="rId3"/>
          <a:stretch>
            <a:fillRect/>
          </a:stretch>
        </p:blipFill>
        <p:spPr>
          <a:xfrm flipH="1">
            <a:off x="3951665" y="3585029"/>
            <a:ext cx="1012217" cy="11462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88968"/>
            <a:ext cx="10607040" cy="4401205"/>
          </a:xfrm>
          <a:prstGeom prst="rect">
            <a:avLst/>
          </a:prstGeom>
          <a:noFill/>
        </p:spPr>
        <p:txBody>
          <a:bodyPr wrap="square" rtlCol="0">
            <a:spAutoFit/>
          </a:bodyPr>
          <a:lstStyle/>
          <a:p>
            <a:pPr fontAlgn="base"/>
            <a:r>
              <a:rPr lang="en-US" b="1" dirty="0"/>
              <a:t>Problem Statement : Travel Agent</a:t>
            </a:r>
            <a:r>
              <a:rPr lang="en-US" dirty="0"/>
              <a:t> </a:t>
            </a:r>
          </a:p>
          <a:p>
            <a:pPr fontAlgn="base"/>
            <a:endParaRPr lang="en-US" b="1" dirty="0"/>
          </a:p>
          <a:p>
            <a:pPr fontAlgn="base"/>
            <a:r>
              <a:rPr lang="en-US" b="1" dirty="0"/>
              <a:t>The Challenge</a:t>
            </a:r>
            <a:r>
              <a:rPr lang="en-US" dirty="0"/>
              <a:t> </a:t>
            </a:r>
            <a:endParaRPr lang="en-US" b="1" dirty="0"/>
          </a:p>
          <a:p>
            <a:r>
              <a:rPr lang="en-US" b="1" dirty="0"/>
              <a:t>Travel planning</a:t>
            </a:r>
            <a:r>
              <a:rPr lang="en-US" dirty="0"/>
              <a:t> today is </a:t>
            </a:r>
            <a:r>
              <a:rPr lang="en-US" b="1" dirty="0"/>
              <a:t>fragmented</a:t>
            </a:r>
            <a:r>
              <a:rPr lang="en-US" dirty="0"/>
              <a:t>, </a:t>
            </a:r>
            <a:r>
              <a:rPr lang="en-US" b="1" dirty="0"/>
              <a:t>time-consuming</a:t>
            </a:r>
            <a:r>
              <a:rPr lang="en-US" dirty="0"/>
              <a:t>, and </a:t>
            </a:r>
            <a:r>
              <a:rPr lang="en-US" b="1" dirty="0"/>
              <a:t>inefficient</a:t>
            </a:r>
            <a:r>
              <a:rPr lang="en-US" dirty="0"/>
              <a:t>. Users need to search across multiple platforms to gather information about </a:t>
            </a:r>
            <a:r>
              <a:rPr lang="en-US" b="1" dirty="0"/>
              <a:t>destinations</a:t>
            </a:r>
            <a:r>
              <a:rPr lang="en-US" dirty="0"/>
              <a:t>, </a:t>
            </a:r>
            <a:r>
              <a:rPr lang="en-US" b="1" dirty="0"/>
              <a:t>hotels</a:t>
            </a:r>
            <a:r>
              <a:rPr lang="en-US" dirty="0"/>
              <a:t>, </a:t>
            </a:r>
            <a:r>
              <a:rPr lang="en-US" b="1" dirty="0"/>
              <a:t>food options</a:t>
            </a:r>
            <a:r>
              <a:rPr lang="en-US" dirty="0"/>
              <a:t>, </a:t>
            </a:r>
            <a:r>
              <a:rPr lang="en-US" b="1" dirty="0"/>
              <a:t>transportation</a:t>
            </a:r>
            <a:r>
              <a:rPr lang="en-US" dirty="0"/>
              <a:t>, and </a:t>
            </a:r>
            <a:r>
              <a:rPr lang="en-US" b="1" dirty="0"/>
              <a:t>budgets</a:t>
            </a:r>
            <a:r>
              <a:rPr lang="en-US" dirty="0"/>
              <a:t>. This leads to </a:t>
            </a:r>
            <a:r>
              <a:rPr lang="en-US" b="1" dirty="0"/>
              <a:t>information overload</a:t>
            </a:r>
            <a:r>
              <a:rPr lang="en-US" dirty="0"/>
              <a:t> and </a:t>
            </a:r>
            <a:r>
              <a:rPr lang="en-US" b="1" dirty="0"/>
              <a:t>inconsistent travel decisions</a:t>
            </a:r>
            <a:r>
              <a:rPr lang="en-US" dirty="0"/>
              <a:t>.</a:t>
            </a:r>
          </a:p>
          <a:p>
            <a:endParaRPr lang="en-US" dirty="0"/>
          </a:p>
          <a:p>
            <a:pPr fontAlgn="base"/>
            <a:r>
              <a:rPr lang="en-US" b="1" dirty="0"/>
              <a:t>The Objective</a:t>
            </a:r>
            <a:r>
              <a:rPr lang="en-US" dirty="0"/>
              <a:t> </a:t>
            </a:r>
          </a:p>
          <a:p>
            <a:r>
              <a:rPr lang="en-US" dirty="0"/>
              <a:t>The main objective of this project is to develop an </a:t>
            </a:r>
            <a:r>
              <a:rPr lang="en-US" b="1" dirty="0"/>
              <a:t>AI-powered Travel Agent system</a:t>
            </a:r>
            <a:r>
              <a:rPr lang="en-US" dirty="0"/>
              <a:t> that simplifies and automates the </a:t>
            </a:r>
            <a:r>
              <a:rPr lang="en-US" b="1" dirty="0"/>
              <a:t>travel planning process</a:t>
            </a:r>
            <a:r>
              <a:rPr lang="en-US" dirty="0"/>
              <a:t> using </a:t>
            </a:r>
            <a:r>
              <a:rPr lang="en-US" b="1" dirty="0"/>
              <a:t>intelligent</a:t>
            </a:r>
            <a:r>
              <a:rPr lang="en-US" dirty="0"/>
              <a:t>, </a:t>
            </a:r>
            <a:r>
              <a:rPr lang="en-US" b="1" dirty="0"/>
              <a:t>structured recommendations</a:t>
            </a:r>
            <a:r>
              <a:rPr lang="en-US" dirty="0"/>
              <a:t>.</a:t>
            </a:r>
          </a:p>
          <a:p>
            <a:r>
              <a:rPr lang="en-US" dirty="0"/>
              <a:t>The system aims to:</a:t>
            </a:r>
          </a:p>
          <a:p>
            <a:r>
              <a:rPr lang="en-US" dirty="0"/>
              <a:t>• Provide </a:t>
            </a:r>
            <a:r>
              <a:rPr lang="en-US" b="1" dirty="0"/>
              <a:t>personalized travel itineraries</a:t>
            </a:r>
            <a:r>
              <a:rPr lang="en-US" dirty="0"/>
              <a:t> based on </a:t>
            </a:r>
            <a:r>
              <a:rPr lang="en-US" b="1" dirty="0"/>
              <a:t>destination</a:t>
            </a:r>
            <a:r>
              <a:rPr lang="en-US" dirty="0"/>
              <a:t>, </a:t>
            </a:r>
            <a:r>
              <a:rPr lang="en-US" b="1" dirty="0"/>
              <a:t>budget</a:t>
            </a:r>
            <a:r>
              <a:rPr lang="en-US" dirty="0"/>
              <a:t>, </a:t>
            </a:r>
            <a:r>
              <a:rPr lang="en-US" b="1" dirty="0"/>
              <a:t>duration</a:t>
            </a:r>
            <a:r>
              <a:rPr lang="en-US" dirty="0"/>
              <a:t>, and </a:t>
            </a:r>
            <a:r>
              <a:rPr lang="en-US" b="1" dirty="0"/>
              <a:t>user interests</a:t>
            </a:r>
            <a:r>
              <a:rPr lang="en-US" dirty="0"/>
              <a:t> </a:t>
            </a:r>
          </a:p>
          <a:p>
            <a:r>
              <a:rPr lang="en-US" dirty="0"/>
              <a:t>• Generate </a:t>
            </a:r>
            <a:r>
              <a:rPr lang="en-US" b="1" dirty="0"/>
              <a:t>structured day-wise travel plans</a:t>
            </a:r>
            <a:r>
              <a:rPr lang="en-US" dirty="0"/>
              <a:t> for better </a:t>
            </a:r>
            <a:r>
              <a:rPr lang="en-US" b="1" dirty="0"/>
              <a:t>trip organization</a:t>
            </a:r>
            <a:r>
              <a:rPr lang="en-US" dirty="0"/>
              <a:t> </a:t>
            </a:r>
          </a:p>
          <a:p>
            <a:r>
              <a:rPr lang="en-US" dirty="0"/>
              <a:t>• Suggest relevant </a:t>
            </a:r>
            <a:r>
              <a:rPr lang="en-US" b="1" dirty="0"/>
              <a:t>tourist attractions</a:t>
            </a:r>
            <a:r>
              <a:rPr lang="en-US" dirty="0"/>
              <a:t>, </a:t>
            </a:r>
            <a:r>
              <a:rPr lang="en-US" b="1" dirty="0"/>
              <a:t>food options</a:t>
            </a:r>
            <a:r>
              <a:rPr lang="en-US" dirty="0"/>
              <a:t>, and </a:t>
            </a:r>
            <a:r>
              <a:rPr lang="en-US" b="1" dirty="0"/>
              <a:t>accommodations</a:t>
            </a:r>
            <a:r>
              <a:rPr lang="en-US" dirty="0"/>
              <a:t> </a:t>
            </a:r>
          </a:p>
          <a:p>
            <a:r>
              <a:rPr lang="en-US" dirty="0"/>
              <a:t>• Optimize travel plans based on </a:t>
            </a:r>
            <a:r>
              <a:rPr lang="en-US" b="1" dirty="0"/>
              <a:t>budget constraints</a:t>
            </a:r>
            <a:r>
              <a:rPr lang="en-US" dirty="0"/>
              <a:t> and </a:t>
            </a:r>
            <a:r>
              <a:rPr lang="en-US" b="1" dirty="0"/>
              <a:t>user preferences</a:t>
            </a:r>
            <a:r>
              <a:rPr lang="en-US" dirty="0"/>
              <a:t> </a:t>
            </a:r>
          </a:p>
          <a:p>
            <a:r>
              <a:rPr lang="en-US" dirty="0"/>
              <a:t>• Simulate an </a:t>
            </a:r>
            <a:r>
              <a:rPr lang="en-US" b="1" dirty="0"/>
              <a:t>Agentic AI workflow</a:t>
            </a:r>
            <a:r>
              <a:rPr lang="en-US" dirty="0"/>
              <a:t> using </a:t>
            </a:r>
            <a:r>
              <a:rPr lang="en-US" b="1" dirty="0"/>
              <a:t>multiple specialized agents</a:t>
            </a:r>
            <a:r>
              <a:rPr lang="en-US" dirty="0"/>
              <a:t> </a:t>
            </a:r>
          </a:p>
          <a:p>
            <a:r>
              <a:rPr lang="en-US" dirty="0"/>
              <a:t>• Deliver a </a:t>
            </a:r>
            <a:r>
              <a:rPr lang="en-US" b="1" dirty="0"/>
              <a:t>unified</a:t>
            </a:r>
            <a:r>
              <a:rPr lang="en-US" dirty="0"/>
              <a:t> and </a:t>
            </a:r>
            <a:r>
              <a:rPr lang="en-US" b="1" dirty="0"/>
              <a:t>user-friendly travel planning experience</a:t>
            </a:r>
            <a:r>
              <a:rPr lang="en-US" dirty="0"/>
              <a:t> </a:t>
            </a:r>
          </a:p>
          <a:p>
            <a:r>
              <a:rPr lang="en-US" dirty="0"/>
              <a:t>• Improve decision-making through </a:t>
            </a:r>
            <a:r>
              <a:rPr lang="en-US" b="1" dirty="0"/>
              <a:t>structured</a:t>
            </a:r>
            <a:r>
              <a:rPr lang="en-US" dirty="0"/>
              <a:t>, </a:t>
            </a:r>
            <a:r>
              <a:rPr lang="en-US" b="1" dirty="0"/>
              <a:t>data-driven recommendations</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96006" y="1241254"/>
            <a:ext cx="10607040" cy="2893100"/>
          </a:xfrm>
          <a:prstGeom prst="rect">
            <a:avLst/>
          </a:prstGeom>
          <a:noFill/>
        </p:spPr>
        <p:txBody>
          <a:bodyPr wrap="square" rtlCol="0">
            <a:spAutoFit/>
          </a:bodyPr>
          <a:lstStyle/>
          <a:p>
            <a:r>
              <a:rPr lang="en-US" dirty="0"/>
              <a:t>The project is implemented using a </a:t>
            </a:r>
            <a:r>
              <a:rPr lang="en-US" b="1" dirty="0"/>
              <a:t>simulated Agentic AI architecture inspired by IBM technologies</a:t>
            </a:r>
            <a:r>
              <a:rPr lang="en-US" dirty="0"/>
              <a:t>.</a:t>
            </a:r>
          </a:p>
          <a:p>
            <a:r>
              <a:rPr lang="en-US" dirty="0" err="1"/>
              <a:t>LangFlow</a:t>
            </a:r>
            <a:r>
              <a:rPr lang="en-US" dirty="0"/>
              <a:t> (Architecture Inspiration – Not directly implemented) </a:t>
            </a:r>
          </a:p>
          <a:p>
            <a:r>
              <a:rPr lang="en-US" dirty="0"/>
              <a:t>IBM watsonx.ai (Conceptual Reference) </a:t>
            </a:r>
          </a:p>
          <a:p>
            <a:r>
              <a:rPr lang="en-US" dirty="0"/>
              <a:t>IBM Granite Models (Conceptual Reference) </a:t>
            </a:r>
          </a:p>
          <a:p>
            <a:r>
              <a:rPr lang="en-US" dirty="0"/>
              <a:t>Python Flask (Implementation Layer) </a:t>
            </a:r>
          </a:p>
          <a:p>
            <a:r>
              <a:rPr lang="en-US" dirty="0"/>
              <a:t>Local Dataset (RAG Simulation)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12133"/>
            <a:ext cx="10607040" cy="4401205"/>
          </a:xfrm>
          <a:prstGeom prst="rect">
            <a:avLst/>
          </a:prstGeom>
          <a:noFill/>
        </p:spPr>
        <p:txBody>
          <a:bodyPr wrap="square" rtlCol="0">
            <a:spAutoFit/>
          </a:bodyPr>
          <a:lstStyle/>
          <a:p>
            <a:pPr fontAlgn="base"/>
            <a:endParaRPr lang="en-US" b="1"/>
          </a:p>
          <a:p>
            <a:r>
              <a:rPr lang="en-US" b="1"/>
              <a:t>Proposed Solution: AI-Powered Travel Agent</a:t>
            </a:r>
          </a:p>
          <a:p>
            <a:r>
              <a:rPr lang="en-US"/>
              <a:t>The proposed solution is an </a:t>
            </a:r>
            <a:r>
              <a:rPr lang="en-US" b="1"/>
              <a:t>AI-powered Travel Planning System</a:t>
            </a:r>
            <a:r>
              <a:rPr lang="en-US"/>
              <a:t> designed to simplify and automate the travel planning process by generating </a:t>
            </a:r>
            <a:r>
              <a:rPr lang="en-US" b="1"/>
              <a:t>personalized, structured, and efficient travel itineraries</a:t>
            </a:r>
            <a:r>
              <a:rPr lang="en-US"/>
              <a:t>. The system is developed using a </a:t>
            </a:r>
            <a:r>
              <a:rPr lang="en-US" b="1"/>
              <a:t>simulated Agentic AI architecture inspired by IBM watsonx.ai, LangFlow, and Granite model concepts</a:t>
            </a:r>
            <a:r>
              <a:rPr lang="en-US"/>
              <a:t>.</a:t>
            </a:r>
          </a:p>
          <a:p>
            <a:r>
              <a:rPr lang="en-US"/>
              <a:t>The system is built to overcome the limitations of traditional travel planning methods by providing a </a:t>
            </a:r>
            <a:r>
              <a:rPr lang="en-US" b="1"/>
              <a:t>single unified platform</a:t>
            </a:r>
            <a:r>
              <a:rPr lang="en-US"/>
              <a:t> where users can generate complete travel plans based on their preferences such as destination, budget, duration, and interests.</a:t>
            </a:r>
          </a:p>
          <a:p>
            <a:r>
              <a:rPr lang="en-US"/>
              <a:t>The core idea is based on a </a:t>
            </a:r>
            <a:r>
              <a:rPr lang="en-US" b="1"/>
              <a:t>multi-agent system design</a:t>
            </a:r>
            <a:r>
              <a:rPr lang="en-US"/>
              <a:t>, where the overall task of travel planning is divided into smaller intelligent components. Each component acts like an independent agent and performs a specific function such as itinerary creation, place recommendation, food suggestions, hotel selection, and budget optimization. These agents work together to produce a final structured travel plan.</a:t>
            </a:r>
          </a:p>
          <a:p>
            <a:r>
              <a:rPr lang="en-US"/>
              <a:t>A </a:t>
            </a:r>
            <a:r>
              <a:rPr lang="en-US" b="1"/>
              <a:t>simulated Retrieval-Augmented Generation (RAG)</a:t>
            </a:r>
            <a:r>
              <a:rPr lang="en-US"/>
              <a:t> approach is used by integrating a local dataset containing travel-related information such as tourist attractions, food options, and accommodation details. This helps in generating more accurate and consistent recommendations.</a:t>
            </a:r>
          </a:p>
          <a:p>
            <a:r>
              <a:rPr lang="en-US"/>
              <a:t>The final system output includes a </a:t>
            </a:r>
            <a:r>
              <a:rPr lang="en-US" b="1"/>
              <a:t>complete day-wise itinerary, destination insights, food and hotel suggestions, and budget-based recommendations</a:t>
            </a:r>
            <a:r>
              <a:rPr lang="en-US"/>
              <a:t>, all presented through a user-friendly Flask-based web application interface.</a:t>
            </a:r>
          </a:p>
          <a:p>
            <a:r>
              <a:rPr lang="en-US"/>
              <a:t>Overall, the system demonstrates how </a:t>
            </a:r>
            <a:r>
              <a:rPr lang="en-US" b="1"/>
              <a:t>Agentic AI principles can be applied in a simplified and practical manner</a:t>
            </a:r>
            <a:r>
              <a:rPr lang="en-US"/>
              <a:t> to build an intelligent travel assistant that improves planning efficiency and user experience.</a:t>
            </a:r>
          </a:p>
          <a:p>
            <a:endParaRPr lang="en-US"/>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712186"/>
            <a:ext cx="8823960" cy="5047536"/>
          </a:xfrm>
          <a:prstGeom prst="rect">
            <a:avLst/>
          </a:prstGeom>
          <a:noFill/>
        </p:spPr>
        <p:txBody>
          <a:bodyPr wrap="square" rtlCol="0">
            <a:spAutoFit/>
          </a:bodyPr>
          <a:lstStyle/>
          <a:p>
            <a:endParaRPr lang="en-US" dirty="0"/>
          </a:p>
          <a:p>
            <a:r>
              <a:rPr lang="en-US" b="1" dirty="0"/>
              <a:t>1. Chat Input Component</a:t>
            </a:r>
          </a:p>
          <a:p>
            <a:r>
              <a:rPr lang="en-US" dirty="0"/>
              <a:t>Used to capture user inputs such as </a:t>
            </a:r>
            <a:r>
              <a:rPr lang="en-US" b="1" dirty="0"/>
              <a:t>destination, budget, number of days, and travel interests</a:t>
            </a:r>
            <a:r>
              <a:rPr lang="en-US" dirty="0"/>
              <a:t>.</a:t>
            </a:r>
            <a:br>
              <a:rPr lang="en-US" dirty="0"/>
            </a:br>
            <a:r>
              <a:rPr lang="en-US" dirty="0"/>
              <a:t>This acts as the entry point of the system.</a:t>
            </a:r>
          </a:p>
          <a:p>
            <a:endParaRPr lang="en-US" dirty="0"/>
          </a:p>
          <a:p>
            <a:r>
              <a:rPr lang="en-US" b="1" dirty="0"/>
              <a:t>2. AI Agent / Processing Node</a:t>
            </a:r>
          </a:p>
          <a:p>
            <a:r>
              <a:rPr lang="en-US" dirty="0"/>
              <a:t>Simulates the </a:t>
            </a:r>
            <a:r>
              <a:rPr lang="en-US" b="1" dirty="0"/>
              <a:t>Agent Controller logic</a:t>
            </a:r>
            <a:r>
              <a:rPr lang="en-US" dirty="0"/>
              <a:t>, which processes user input and distributes tasks to different travel agents such as itinerary, food, hotel, and budget agents.</a:t>
            </a:r>
          </a:p>
          <a:p>
            <a:endParaRPr lang="en-US" dirty="0"/>
          </a:p>
          <a:p>
            <a:r>
              <a:rPr lang="en-US" b="1" dirty="0"/>
              <a:t>3. Travel Intelligence Agents</a:t>
            </a:r>
          </a:p>
          <a:p>
            <a:r>
              <a:rPr lang="en-US" dirty="0"/>
              <a:t>Represents multiple functional agents:</a:t>
            </a:r>
          </a:p>
          <a:p>
            <a:r>
              <a:rPr lang="en-US" dirty="0"/>
              <a:t>Travel Planning Agent </a:t>
            </a:r>
          </a:p>
          <a:p>
            <a:r>
              <a:rPr lang="en-US" dirty="0"/>
              <a:t>Place Recommendation Agent </a:t>
            </a:r>
          </a:p>
          <a:p>
            <a:r>
              <a:rPr lang="en-US" dirty="0"/>
              <a:t>Food Recommendation Agent </a:t>
            </a:r>
          </a:p>
          <a:p>
            <a:endParaRPr lang="en-US" dirty="0"/>
          </a:p>
          <a:p>
            <a:r>
              <a:rPr lang="en-US" b="1" dirty="0"/>
              <a:t>4. Knowledge / Data Component (RAG Simulation)</a:t>
            </a:r>
          </a:p>
          <a:p>
            <a:r>
              <a:rPr lang="en-US" dirty="0"/>
              <a:t>Simulates a </a:t>
            </a:r>
            <a:r>
              <a:rPr lang="en-US" b="1" dirty="0"/>
              <a:t>Retrieval-Augmented Generation (RAG) system</a:t>
            </a:r>
            <a:r>
              <a:rPr lang="en-US" dirty="0"/>
              <a:t> using a local dataset containing travel information like destinations, food, and hotels.</a:t>
            </a:r>
          </a:p>
          <a:p>
            <a:endParaRPr lang="en-US" dirty="0"/>
          </a:p>
          <a:p>
            <a:r>
              <a:rPr lang="en-US" b="1" dirty="0"/>
              <a:t>5. Output Component</a:t>
            </a:r>
          </a:p>
          <a:p>
            <a:r>
              <a:rPr lang="en-US" dirty="0"/>
              <a:t>Displays the final </a:t>
            </a:r>
            <a:r>
              <a:rPr lang="en-US" b="1" dirty="0"/>
              <a:t>structured travel itinerary and recommendations</a:t>
            </a:r>
            <a:r>
              <a:rPr lang="en-US" dirty="0"/>
              <a:t> in a user-friendly format using a Flask web interface.</a:t>
            </a:r>
          </a:p>
          <a:p>
            <a:endParaRPr lang="en-US"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35;p5">
            <a:extLst>
              <a:ext uri="{FF2B5EF4-FFF2-40B4-BE49-F238E27FC236}">
                <a16:creationId xmlns:a16="http://schemas.microsoft.com/office/drawing/2014/main" id="{B64CF172-D2AF-03D8-F919-AA7827A0D969}"/>
              </a:ext>
            </a:extLst>
          </p:cNvPr>
          <p:cNvSpPr/>
          <p:nvPr/>
        </p:nvSpPr>
        <p:spPr>
          <a:xfrm>
            <a:off x="1028700" y="1967266"/>
            <a:ext cx="2628900" cy="2547257"/>
          </a:xfrm>
          <a:prstGeom prst="rect">
            <a:avLst/>
          </a:prstGeom>
          <a:noFill/>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rgbClr val="051D3A"/>
              </a:buClr>
              <a:buSzPts val="3500"/>
            </a:pPr>
            <a:r>
              <a:rPr lang="en-US" sz="3600" b="1" kern="1200">
                <a:solidFill>
                  <a:srgbClr val="FFFFFF"/>
                </a:solidFill>
                <a:latin typeface="+mj-lt"/>
                <a:ea typeface="+mj-ea"/>
                <a:cs typeface="+mj-cs"/>
                <a:sym typeface="Times New Roman"/>
              </a:rPr>
              <a:t>Langflow</a:t>
            </a:r>
            <a:r>
              <a:rPr lang="en-US" sz="3600" b="1" i="0" u="none" strike="noStrike" kern="1200" cap="none">
                <a:solidFill>
                  <a:srgbClr val="FFFFFF"/>
                </a:solidFill>
                <a:latin typeface="+mj-lt"/>
                <a:ea typeface="+mj-ea"/>
                <a:cs typeface="+mj-cs"/>
                <a:sym typeface="Times New Roman"/>
              </a:rPr>
              <a:t> </a:t>
            </a:r>
            <a:r>
              <a:rPr lang="en-US" sz="3600" b="1" kern="1200">
                <a:solidFill>
                  <a:srgbClr val="FFFFFF"/>
                </a:solidFill>
                <a:latin typeface="+mj-lt"/>
                <a:ea typeface="+mj-ea"/>
                <a:cs typeface="+mj-cs"/>
                <a:sym typeface="Times New Roman"/>
              </a:rPr>
              <a:t>workflow -</a:t>
            </a:r>
          </a:p>
        </p:txBody>
      </p:sp>
      <p:pic>
        <p:nvPicPr>
          <p:cNvPr id="4" name="Picture 3">
            <a:extLst>
              <a:ext uri="{FF2B5EF4-FFF2-40B4-BE49-F238E27FC236}">
                <a16:creationId xmlns:a16="http://schemas.microsoft.com/office/drawing/2014/main" id="{C7B9E3AC-9F4B-B766-C97A-6624CD08BEAB}"/>
              </a:ext>
            </a:extLst>
          </p:cNvPr>
          <p:cNvPicPr>
            <a:picLocks noChangeAspect="1"/>
          </p:cNvPicPr>
          <p:nvPr/>
        </p:nvPicPr>
        <p:blipFill>
          <a:blip r:embed="rId3"/>
          <a:stretch>
            <a:fillRect/>
          </a:stretch>
        </p:blipFill>
        <p:spPr>
          <a:xfrm>
            <a:off x="4777316" y="1164777"/>
            <a:ext cx="6780700" cy="452611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dirty="0"/>
          </a:p>
        </p:txBody>
      </p:sp>
      <p:pic>
        <p:nvPicPr>
          <p:cNvPr id="6" name="Picture 5">
            <a:extLst>
              <a:ext uri="{FF2B5EF4-FFF2-40B4-BE49-F238E27FC236}">
                <a16:creationId xmlns:a16="http://schemas.microsoft.com/office/drawing/2014/main" id="{BA0B896B-4889-233D-4B5A-EA7CE8FE7FAD}"/>
              </a:ext>
            </a:extLst>
          </p:cNvPr>
          <p:cNvPicPr>
            <a:picLocks noChangeAspect="1"/>
          </p:cNvPicPr>
          <p:nvPr/>
        </p:nvPicPr>
        <p:blipFill>
          <a:blip r:embed="rId3"/>
          <a:stretch>
            <a:fillRect/>
          </a:stretch>
        </p:blipFill>
        <p:spPr>
          <a:xfrm>
            <a:off x="1679154" y="700517"/>
            <a:ext cx="8833691" cy="58891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561920" y="20345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7" name="TextBox 6">
            <a:extLst>
              <a:ext uri="{FF2B5EF4-FFF2-40B4-BE49-F238E27FC236}">
                <a16:creationId xmlns:a16="http://schemas.microsoft.com/office/drawing/2014/main" id="{C5D4EC39-DEFA-D0B2-3C3E-B636FB55748C}"/>
              </a:ext>
            </a:extLst>
          </p:cNvPr>
          <p:cNvSpPr txBox="1"/>
          <p:nvPr/>
        </p:nvSpPr>
        <p:spPr>
          <a:xfrm>
            <a:off x="561920" y="1234440"/>
            <a:ext cx="7410505" cy="2910245"/>
          </a:xfrm>
          <a:prstGeom prst="rect">
            <a:avLst/>
          </a:prstGeom>
          <a:noFill/>
        </p:spPr>
        <p:txBody>
          <a:bodyPr wrap="square">
            <a:spAutoFit/>
          </a:bodyPr>
          <a:lstStyle/>
          <a:p>
            <a:pPr>
              <a:buNone/>
            </a:pPr>
            <a:r>
              <a:rPr lang="en-US" dirty="0"/>
              <a:t>Agentic AI plays a crucial role in the proposed Travel Agent system by enabling it to function as a </a:t>
            </a:r>
            <a:r>
              <a:rPr lang="en-US" b="1" dirty="0"/>
              <a:t>coordinated, intelligent, and goal-driven system</a:t>
            </a:r>
            <a:r>
              <a:rPr lang="en-US" dirty="0"/>
              <a:t> rather than a simple chatbot. It breaks the complex task of travel planning into multiple specialized agents such as the Travel Planning Agent, Place Recommendation Agent, Food Recommendation Agent, Hotel Recommendation Agent, and Budget Optimization Agent. Each agent is responsible for handling a specific sub-task and works collaboratively to generate a unified and structured travel plan. Agentic AI also enables </a:t>
            </a:r>
            <a:r>
              <a:rPr lang="en-US" b="1" dirty="0"/>
              <a:t>task decomposition, context-aware processing, and modular decision-making</a:t>
            </a:r>
            <a:r>
              <a:rPr lang="en-US" dirty="0"/>
              <a:t>, allowing the system to understand user inputs like budget, destination, duration, and interests to provide personalized recommendations. Although implemented in a simulated form, it mimics intelligent behavior by filtering options, optimizing plans, and generating a coherent output. Overall, Agentic AI enhances the system by making it more </a:t>
            </a:r>
            <a:r>
              <a:rPr lang="en-US" b="1" dirty="0"/>
              <a:t>organized, adaptive, and user-centric</a:t>
            </a:r>
            <a:r>
              <a:rPr lang="en-US" dirty="0"/>
              <a:t>, improving the quality and relevance of travel recommendations.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a:t>
            </a:r>
            <a:r>
              <a:rPr lang="en-US" sz="1800" dirty="0"/>
              <a:t> – For designing and orchestrating multi-agent travel workflows visually, including itinerary planning, hotel recommendations, budget analysis, and travel assistance.</a:t>
            </a:r>
          </a:p>
          <a:p>
            <a:pPr marL="285750" indent="-285750">
              <a:buFont typeface="Arial" panose="020B0604020202020204" pitchFamily="34" charset="0"/>
              <a:buChar char="•"/>
            </a:pPr>
            <a:r>
              <a:rPr lang="en-US" sz="1800" dirty="0"/>
              <a:t> </a:t>
            </a:r>
            <a:r>
              <a:rPr lang="en-US" sz="1800" b="1" dirty="0"/>
              <a:t>IBM Granite Model</a:t>
            </a:r>
            <a:r>
              <a:rPr lang="en-US" sz="1800" dirty="0"/>
              <a:t> (e.g., IBM Granite) – For natural language understanding, travel planning, destination recommendations, reasoning, and personalized trip suggestions.</a:t>
            </a:r>
          </a:p>
          <a:p>
            <a:pPr marL="285750" indent="-285750">
              <a:buFont typeface="Arial" panose="020B0604020202020204" pitchFamily="34" charset="0"/>
              <a:buChar char="•"/>
            </a:pPr>
            <a:r>
              <a:rPr lang="en-US" sz="1800" dirty="0"/>
              <a:t> </a:t>
            </a:r>
            <a:r>
              <a:rPr lang="en-US" sz="1800" b="1" dirty="0"/>
              <a:t>IBM Cloud</a:t>
            </a:r>
            <a:r>
              <a:rPr lang="en-US" sz="1800" dirty="0"/>
              <a:t> – Provides the infrastructure to build, deploy, and scale the Travel Agent efficiently. It offers a secure, reliable, and scalable environment for hosting AI services and travel applications.</a:t>
            </a:r>
          </a:p>
          <a:p>
            <a:pPr marL="285750" indent="-285750">
              <a:buFont typeface="Arial" panose="020B0604020202020204" pitchFamily="34" charset="0"/>
              <a:buChar char="•"/>
            </a:pPr>
            <a:r>
              <a:rPr lang="en-US" sz="1800" dirty="0"/>
              <a:t> </a:t>
            </a:r>
            <a:r>
              <a:rPr lang="en-US" sz="1800" b="1" dirty="0"/>
              <a:t>RAG (Retrieval-Augmented Generation)</a:t>
            </a:r>
            <a:r>
              <a:rPr lang="en-US" sz="1800" dirty="0"/>
              <a:t> – Retrieves real-time travel information such as destinations, attractions, visa requirements, weather conditions, and transportation details before generating responses, making recommendations more accurate and trustworthy.</a:t>
            </a:r>
          </a:p>
          <a:p>
            <a:pPr marL="285750" indent="-285750">
              <a:buFont typeface="Arial" panose="020B0604020202020204" pitchFamily="34" charset="0"/>
              <a:buChar char="•"/>
            </a:pPr>
            <a:r>
              <a:rPr lang="en-US" sz="1800" dirty="0"/>
              <a:t> </a:t>
            </a:r>
            <a:r>
              <a:rPr lang="en-US" sz="1800" b="1" dirty="0"/>
              <a:t>IBM Watsonx.ai</a:t>
            </a:r>
            <a:r>
              <a:rPr lang="en-US" sz="1800" dirty="0"/>
              <a:t> – For model deployment, prompt engineering, embeddings, AI governance, and monitoring of the Travel Agent system.</a:t>
            </a:r>
          </a:p>
          <a:p>
            <a:pPr marL="285750" indent="-285750">
              <a:buFont typeface="Arial" panose="020B0604020202020204" pitchFamily="34" charset="0"/>
              <a:buChar char="•"/>
            </a:pPr>
            <a:r>
              <a:rPr lang="en-US" sz="1800" dirty="0"/>
              <a:t> </a:t>
            </a:r>
            <a:r>
              <a:rPr lang="en-US" sz="1800" b="1" dirty="0"/>
              <a:t>Vector Database (FAISS/Chroma)</a:t>
            </a:r>
            <a:r>
              <a:rPr lang="en-US" sz="1800" dirty="0"/>
              <a:t> – Stores and retrieves travel-related knowledge, including destination guides, hotel information, transportation options, and tourist attractions to support RAG-based recommendations. </a:t>
            </a:r>
          </a:p>
          <a:p>
            <a:pPr marL="285750" indent="-285750">
              <a:buFont typeface="Arial" panose="020B0604020202020204" pitchFamily="34" charset="0"/>
              <a:buChar char="•"/>
            </a:pPr>
            <a:r>
              <a:rPr lang="en-US" sz="1800" b="1" dirty="0"/>
              <a:t>Travel APIs (Optional)</a:t>
            </a:r>
            <a:r>
              <a:rPr lang="en-US" sz="1800" dirty="0"/>
              <a:t> – Integrates flight, hotel, weather, and map services to provide real-time travel information, bookings, and route planning.</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US" sz="1800" dirty="0"/>
              <a:t>The proposed AI-Powered Travel Agent stands out due to its </a:t>
            </a:r>
            <a:r>
              <a:rPr lang="en-US" sz="1800" b="1" dirty="0"/>
              <a:t>simulated Agentic AI architecture</a:t>
            </a:r>
            <a:r>
              <a:rPr lang="en-US" sz="1800" dirty="0"/>
              <a:t>, which transforms traditional travel planning into an intelligent and structured decision-making system. Unlike conventional travel websites that provide static suggestions, this system uses a </a:t>
            </a:r>
            <a:r>
              <a:rPr lang="en-US" sz="1800" b="1" dirty="0"/>
              <a:t>multi-agent approach</a:t>
            </a:r>
            <a:r>
              <a:rPr lang="en-US" sz="1800" dirty="0"/>
              <a:t> where different components independently handle tasks such as itinerary generation, place recommendation, food suggestions, hotel selection, and budget optimization.</a:t>
            </a:r>
          </a:p>
          <a:p>
            <a:r>
              <a:rPr lang="en-US" sz="1800" dirty="0"/>
              <a:t>A key novelty of the system is the </a:t>
            </a:r>
            <a:r>
              <a:rPr lang="en-US" sz="1800" b="1" dirty="0"/>
              <a:t>task decomposition strategy</a:t>
            </a:r>
            <a:r>
              <a:rPr lang="en-US" sz="1800" dirty="0"/>
              <a:t>, where complex travel planning is broken into smaller intelligent sub-tasks, improving organization and efficiency. The system also incorporates a </a:t>
            </a:r>
            <a:r>
              <a:rPr lang="en-US" sz="1800" b="1" dirty="0"/>
              <a:t>simulated Retrieval-Augmented Generation (RAG) mechanism</a:t>
            </a:r>
            <a:r>
              <a:rPr lang="en-US" sz="1800" dirty="0"/>
              <a:t> using a local dataset, ensuring structured and consistent travel information without relying on external APIs.</a:t>
            </a:r>
          </a:p>
          <a:p>
            <a:r>
              <a:rPr lang="en-US" sz="1800" dirty="0"/>
              <a:t>Another unique aspect is the </a:t>
            </a:r>
            <a:r>
              <a:rPr lang="en-US" sz="1800" b="1" dirty="0"/>
              <a:t>personalization capability</a:t>
            </a:r>
            <a:r>
              <a:rPr lang="en-US" sz="1800" dirty="0"/>
              <a:t>, where travel plans are generated based on user-specific inputs such as budget, interests, destination, and duration. This allows the system to produce highly relevant and user-centric travel recommendations.</a:t>
            </a:r>
          </a:p>
          <a:p>
            <a:r>
              <a:rPr lang="en-US" sz="1800" dirty="0"/>
              <a:t>Additionally, the system demonstrates a </a:t>
            </a:r>
            <a:r>
              <a:rPr lang="en-US" sz="1800" b="1" dirty="0"/>
              <a:t>lightweight and scalable web-based implementation using Flask</a:t>
            </a:r>
            <a:r>
              <a:rPr lang="en-US" sz="1800" dirty="0"/>
              <a:t>, making it easy to deploy and understand while still reflecting advanced AI concepts.</a:t>
            </a:r>
          </a:p>
          <a:p>
            <a:r>
              <a:rPr lang="en-US" sz="1800" dirty="0"/>
              <a:t>Overall, the project is unique because it combines </a:t>
            </a:r>
            <a:r>
              <a:rPr lang="en-US" sz="1800" b="1" dirty="0"/>
              <a:t>Agentic AI principles, modular design, and personalized recommendation logic</a:t>
            </a:r>
            <a:r>
              <a:rPr lang="en-US" sz="1800" dirty="0"/>
              <a:t> into a single unified travel planning system.</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1"/>
            <a:endParaRPr lang="en-US" dirty="0"/>
          </a:p>
          <a:p>
            <a:pPr lvl="1"/>
            <a:endParaRPr lang="en-US"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2E388BAC-9D2D-B076-F8D7-01EAE722ABBF}"/>
              </a:ext>
            </a:extLst>
          </p:cNvPr>
          <p:cNvSpPr txBox="1"/>
          <p:nvPr/>
        </p:nvSpPr>
        <p:spPr>
          <a:xfrm>
            <a:off x="1218724" y="1044263"/>
            <a:ext cx="7786065" cy="307777"/>
          </a:xfrm>
          <a:prstGeom prst="rect">
            <a:avLst/>
          </a:prstGeom>
          <a:noFill/>
        </p:spPr>
        <p:txBody>
          <a:bodyPr wrap="square">
            <a:spAutoFit/>
          </a:bodyPr>
          <a:lstStyle/>
          <a:p>
            <a:r>
              <a:rPr lang="en-US" dirty="0"/>
              <a:t>https://github.com/anushkareddykodakandla-004/ai-travel-agent.git</a:t>
            </a: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91904" y="420729"/>
            <a:ext cx="6371315" cy="766048"/>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3410" y="1124746"/>
            <a:ext cx="9214580" cy="4277001"/>
          </a:xfrm>
          <a:prstGeom prst="rect">
            <a:avLst/>
          </a:prstGeom>
          <a:noFill/>
          <a:ln>
            <a:noFill/>
          </a:ln>
        </p:spPr>
        <p:txBody>
          <a:bodyPr spcFirstLastPara="1" wrap="square" lIns="0" tIns="0" rIns="0" bIns="0" anchor="t" anchorCtr="0">
            <a:noAutofit/>
          </a:bodyPr>
          <a:lstStyle/>
          <a:p>
            <a:endParaRPr lang="en-US" sz="2000" b="1" dirty="0"/>
          </a:p>
          <a:p>
            <a:r>
              <a:rPr lang="en-US" sz="2000" dirty="0"/>
              <a:t>1. Integration with Google Maps API for route planning </a:t>
            </a:r>
          </a:p>
          <a:p>
            <a:r>
              <a:rPr lang="en-US" sz="2000" dirty="0"/>
              <a:t>2. Real-time hotel and flight booking APIs </a:t>
            </a:r>
          </a:p>
          <a:p>
            <a:r>
              <a:rPr lang="en-US" sz="2000" dirty="0"/>
              <a:t>3. Voice-based AI travel assistant </a:t>
            </a:r>
          </a:p>
          <a:p>
            <a:r>
              <a:rPr lang="en-US" sz="2000" dirty="0"/>
              <a:t>4. Mobile application development </a:t>
            </a:r>
          </a:p>
          <a:p>
            <a:r>
              <a:rPr lang="en-US" sz="2000" dirty="0"/>
              <a:t>5. Real LLM integration using IBM watsonx.ai or OpenAI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1282</TotalTime>
  <Words>1392</Words>
  <Application>Microsoft Office PowerPoint</Application>
  <PresentationFormat>Widescreen</PresentationFormat>
  <Paragraphs>103</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Anushka Reddy</cp:lastModifiedBy>
  <cp:revision>27</cp:revision>
  <dcterms:created xsi:type="dcterms:W3CDTF">2025-07-08T05:06:56Z</dcterms:created>
  <dcterms:modified xsi:type="dcterms:W3CDTF">2026-06-12T18:52:44Z</dcterms:modified>
</cp:coreProperties>
</file>